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marlonsvillarama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FFC042"/>
            </a:gs>
            <a:gs pos="100000">
              <a:srgbClr val="EB8B05"/>
            </a:gs>
          </a:gsLst>
          <a:lin ang="14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arlon Villarama, August 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Marlon Villarama, August 2025</a:t>
            </a:r>
          </a:p>
        </p:txBody>
      </p:sp>
      <p:sp>
        <p:nvSpPr>
          <p:cNvPr id="172" name="JOB ORDER AND BOOKING SYSTEM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784225">
              <a:lnSpc>
                <a:spcPct val="150000"/>
              </a:lnSpc>
              <a:defRPr sz="5225"/>
            </a:pPr>
            <a:r>
              <a:t>JOB ORDER AND BOOKING SYSTEM</a:t>
            </a:r>
          </a:p>
          <a:p>
            <a:pPr defTabSz="784225">
              <a:lnSpc>
                <a:spcPct val="150000"/>
              </a:lnSpc>
              <a:defRPr b="0" sz="3989"/>
            </a:pPr>
            <a:r>
              <a:t>Project Proposal</a:t>
            </a:r>
          </a:p>
        </p:txBody>
      </p:sp>
      <p:pic>
        <p:nvPicPr>
          <p:cNvPr id="173" name="BB Logo.svg" descr="BB Logo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7940" y="4267994"/>
            <a:ext cx="8038232" cy="32883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he Problem We Are Solv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Problem We Are Solving</a:t>
            </a:r>
          </a:p>
        </p:txBody>
      </p:sp>
      <p:sp>
        <p:nvSpPr>
          <p:cNvPr id="176" name="The business is growing and quickly expanding locations.…"/>
          <p:cNvSpPr txBox="1"/>
          <p:nvPr>
            <p:ph type="body" idx="1"/>
          </p:nvPr>
        </p:nvSpPr>
        <p:spPr>
          <a:xfrm>
            <a:off x="1206500" y="2991926"/>
            <a:ext cx="21971000" cy="951259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t>The business is growing and quickly expanding locations.</a:t>
            </a:r>
          </a:p>
          <a:p>
            <a:pPr>
              <a:lnSpc>
                <a:spcPct val="150000"/>
              </a:lnSpc>
            </a:pPr>
            <a:r>
              <a:t>Multiple spreadsheets are used to manage customers and bookings.</a:t>
            </a:r>
          </a:p>
          <a:p>
            <a:pPr>
              <a:lnSpc>
                <a:spcPct val="150000"/>
              </a:lnSpc>
            </a:pPr>
            <a:r>
              <a:t>Separate forms/systems are used to intake customer and booking data.</a:t>
            </a:r>
          </a:p>
          <a:p>
            <a:pPr>
              <a:lnSpc>
                <a:spcPct val="150000"/>
              </a:lnSpc>
            </a:pPr>
            <a:r>
              <a:t>Data may be redundant across multiple stores, impacting integrity.</a:t>
            </a:r>
          </a:p>
          <a:p>
            <a:pPr>
              <a:lnSpc>
                <a:spcPct val="150000"/>
              </a:lnSpc>
            </a:pPr>
            <a:r>
              <a:t>No/limited transaction audit trail/history.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he Solu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Solution</a:t>
            </a:r>
          </a:p>
        </p:txBody>
      </p:sp>
      <p:sp>
        <p:nvSpPr>
          <p:cNvPr id="179" name="Create a single system to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Create a single system to:</a:t>
            </a:r>
          </a:p>
        </p:txBody>
      </p:sp>
      <p:sp>
        <p:nvSpPr>
          <p:cNvPr id="180" name="Quickly and easily access real-time data across the organizatio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t>Quickly and easily access real-time data across the organization.</a:t>
            </a:r>
          </a:p>
          <a:p>
            <a:pPr>
              <a:lnSpc>
                <a:spcPct val="150000"/>
              </a:lnSpc>
            </a:pPr>
            <a:r>
              <a:t>Unified data management for customers, service bookings, and employees.</a:t>
            </a:r>
          </a:p>
          <a:p>
            <a:pPr>
              <a:lnSpc>
                <a:spcPct val="150000"/>
              </a:lnSpc>
            </a:pPr>
            <a:r>
              <a:t>Provide a continuous and complete view of a service booking’s life cycle.</a:t>
            </a:r>
          </a:p>
          <a:p>
            <a:pPr>
              <a:lnSpc>
                <a:spcPct val="150000"/>
              </a:lnSpc>
            </a:pPr>
            <a:r>
              <a:t>Ensure data integrity and security.</a:t>
            </a:r>
          </a:p>
          <a:p>
            <a:pPr>
              <a:lnSpc>
                <a:spcPct val="150000"/>
              </a:lnSpc>
            </a:pPr>
            <a:r>
              <a:t>Provide stakeholders with timely, accurate reports.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ounded Rectangle"/>
          <p:cNvSpPr/>
          <p:nvPr/>
        </p:nvSpPr>
        <p:spPr>
          <a:xfrm>
            <a:off x="4022438" y="10060177"/>
            <a:ext cx="16339124" cy="19493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3" name="Rounded Rectangle"/>
          <p:cNvSpPr/>
          <p:nvPr/>
        </p:nvSpPr>
        <p:spPr>
          <a:xfrm>
            <a:off x="4022438" y="6594445"/>
            <a:ext cx="16339124" cy="19493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4" name="The Solu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Solution</a:t>
            </a:r>
          </a:p>
        </p:txBody>
      </p:sp>
      <p:sp>
        <p:nvSpPr>
          <p:cNvPr id="185" name="Customers"/>
          <p:cNvSpPr/>
          <p:nvPr/>
        </p:nvSpPr>
        <p:spPr>
          <a:xfrm>
            <a:off x="4448980" y="10438276"/>
            <a:ext cx="4758058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Customers</a:t>
            </a:r>
          </a:p>
        </p:txBody>
      </p:sp>
      <p:sp>
        <p:nvSpPr>
          <p:cNvPr id="186" name="Quotations"/>
          <p:cNvSpPr/>
          <p:nvPr/>
        </p:nvSpPr>
        <p:spPr>
          <a:xfrm>
            <a:off x="9812971" y="10438276"/>
            <a:ext cx="4758058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Quotations</a:t>
            </a:r>
          </a:p>
        </p:txBody>
      </p:sp>
      <p:sp>
        <p:nvSpPr>
          <p:cNvPr id="187" name="Employees/Teams"/>
          <p:cNvSpPr/>
          <p:nvPr/>
        </p:nvSpPr>
        <p:spPr>
          <a:xfrm>
            <a:off x="15176963" y="10438276"/>
            <a:ext cx="4758058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Employees/Teams</a:t>
            </a:r>
          </a:p>
        </p:txBody>
      </p:sp>
      <p:sp>
        <p:nvSpPr>
          <p:cNvPr id="188" name="Dispatch"/>
          <p:cNvSpPr/>
          <p:nvPr/>
        </p:nvSpPr>
        <p:spPr>
          <a:xfrm>
            <a:off x="4448980" y="6972545"/>
            <a:ext cx="4758058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Dispatch</a:t>
            </a:r>
          </a:p>
        </p:txBody>
      </p:sp>
      <p:sp>
        <p:nvSpPr>
          <p:cNvPr id="189" name="Line"/>
          <p:cNvSpPr/>
          <p:nvPr/>
        </p:nvSpPr>
        <p:spPr>
          <a:xfrm flipV="1">
            <a:off x="8163314" y="8585399"/>
            <a:ext cx="1" cy="1433164"/>
          </a:xfrm>
          <a:prstGeom prst="line">
            <a:avLst/>
          </a:prstGeom>
          <a:ln w="1016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0" name="Line"/>
          <p:cNvSpPr/>
          <p:nvPr/>
        </p:nvSpPr>
        <p:spPr>
          <a:xfrm flipV="1">
            <a:off x="16250733" y="8585399"/>
            <a:ext cx="1" cy="1433164"/>
          </a:xfrm>
          <a:prstGeom prst="line">
            <a:avLst/>
          </a:prstGeom>
          <a:ln w="1016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1" name="Rounded Rectangle"/>
          <p:cNvSpPr/>
          <p:nvPr/>
        </p:nvSpPr>
        <p:spPr>
          <a:xfrm>
            <a:off x="4022438" y="3128714"/>
            <a:ext cx="16339124" cy="1949340"/>
          </a:xfrm>
          <a:prstGeom prst="roundRect">
            <a:avLst>
              <a:gd name="adj" fmla="val 15000"/>
            </a:avLst>
          </a:prstGeom>
          <a:solidFill>
            <a:schemeClr val="accent4">
              <a:hueOff val="-476017"/>
              <a:lumOff val="-10042"/>
            </a:schemeClr>
          </a:solidFill>
          <a:ln w="635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92" name="BB Logo.svg" descr="BB Logo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3" y="3096964"/>
            <a:ext cx="4920274" cy="201284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Line"/>
          <p:cNvSpPr/>
          <p:nvPr/>
        </p:nvSpPr>
        <p:spPr>
          <a:xfrm flipV="1">
            <a:off x="12192000" y="5119668"/>
            <a:ext cx="0" cy="1433164"/>
          </a:xfrm>
          <a:prstGeom prst="line">
            <a:avLst/>
          </a:prstGeom>
          <a:ln w="1016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4" name="Accounting"/>
          <p:cNvSpPr/>
          <p:nvPr/>
        </p:nvSpPr>
        <p:spPr>
          <a:xfrm>
            <a:off x="9812971" y="6972545"/>
            <a:ext cx="4758058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Accounting</a:t>
            </a:r>
          </a:p>
        </p:txBody>
      </p:sp>
      <p:sp>
        <p:nvSpPr>
          <p:cNvPr id="195" name="Reports"/>
          <p:cNvSpPr/>
          <p:nvPr/>
        </p:nvSpPr>
        <p:spPr>
          <a:xfrm>
            <a:off x="15176963" y="6972545"/>
            <a:ext cx="4758058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Reports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001 - Dashboard.png" descr="001 - Dashboar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3199" y="-56"/>
            <a:ext cx="18637602" cy="13716112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DASHBOARD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002 - Quotations List.png" descr="002 - Quotations L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3274" y="0"/>
            <a:ext cx="18637452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QUOTATIONS (List)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QUOTATIONS (List)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003 - Quotations View.png" descr="003 - Quotations View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83428" y="0"/>
            <a:ext cx="17417144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QUOTATION (View)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QUOTATION (View)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004 - Quotations Edit.png" descr="004 - Quotations Edi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12071" y="0"/>
            <a:ext cx="15759858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QUOTATION (Edit)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QUOTATION (Edit)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006 - Client List.png" descr="006 - Client L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3274" y="0"/>
            <a:ext cx="18637452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CLIENTS (List)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CLIENTS (List)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007 - Clients View.png" descr="007 - Clients View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3502" y="0"/>
            <a:ext cx="18696996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CLIENT (View)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CLIENT (View)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008 - Clients Edit.png" descr="008 - Clients Edi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65804" y="1790"/>
            <a:ext cx="18652392" cy="13712420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CLIENT (Edit)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CLIENT (Edit)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005 - Dispatch Calendar.png" descr="005 - Dispatch Calend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3274" y="0"/>
            <a:ext cx="18637452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DISPATCH CALENDAR"/>
          <p:cNvSpPr/>
          <p:nvPr/>
        </p:nvSpPr>
        <p:spPr>
          <a:xfrm>
            <a:off x="491998" y="456076"/>
            <a:ext cx="6003750" cy="1193141"/>
          </a:xfrm>
          <a:prstGeom prst="roundRect">
            <a:avLst>
              <a:gd name="adj" fmla="val 15885"/>
            </a:avLst>
          </a:prstGeom>
          <a:solidFill>
            <a:schemeClr val="accent4">
              <a:hueOff val="-476017"/>
              <a:lumOff val="-10042"/>
            </a:schemeClr>
          </a:solidFill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63500" dist="508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DISPATCH CALENDAR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FFC042"/>
            </a:gs>
            <a:gs pos="100000">
              <a:srgbClr val="EB8B05"/>
            </a:gs>
          </a:gsLst>
          <a:lin ang="14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Marlon Villarama…"/>
          <p:cNvSpPr txBox="1"/>
          <p:nvPr>
            <p:ph type="body" idx="21"/>
          </p:nvPr>
        </p:nvSpPr>
        <p:spPr>
          <a:xfrm>
            <a:off x="1206499" y="8735662"/>
            <a:ext cx="21971002" cy="14331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algn="ctr">
              <a:lnSpc>
                <a:spcPct val="120000"/>
              </a:lnSpc>
            </a:pPr>
            <a:r>
              <a:t>Marlon Villarama</a:t>
            </a:r>
          </a:p>
          <a:p>
            <a:pPr algn="ctr">
              <a:lnSpc>
                <a:spcPct val="120000"/>
              </a:lnSpc>
              <a:defRPr b="0"/>
            </a:pPr>
            <a:r>
              <a:rPr u="sng">
                <a:hlinkClick r:id="rId2" invalidUrl="" action="" tgtFrame="" tooltip="" history="1" highlightClick="0" endSnd="0"/>
              </a:rPr>
              <a:t>marlonsvillarama@gmail.com</a:t>
            </a:r>
          </a:p>
        </p:txBody>
      </p:sp>
      <p:sp>
        <p:nvSpPr>
          <p:cNvPr id="222" name="Thank you!"/>
          <p:cNvSpPr txBox="1"/>
          <p:nvPr>
            <p:ph type="ctrTitle"/>
          </p:nvPr>
        </p:nvSpPr>
        <p:spPr>
          <a:xfrm>
            <a:off x="1206500" y="5709618"/>
            <a:ext cx="21971000" cy="1433164"/>
          </a:xfrm>
          <a:prstGeom prst="rect">
            <a:avLst/>
          </a:prstGeom>
        </p:spPr>
        <p:txBody>
          <a:bodyPr anchor="t"/>
          <a:lstStyle>
            <a:lvl1pPr algn="ctr">
              <a:defRPr spc="-170" sz="8500"/>
            </a:lvl1pPr>
          </a:lstStyle>
          <a:p>
            <a:pPr/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